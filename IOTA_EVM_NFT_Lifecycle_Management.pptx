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D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259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D4AF"/>
                </a:solidFill>
                <a:latin typeface="Segoe UI"/>
              </a:defRPr>
            </a:pPr>
            <a:r>
              <a:t>IOTA EVM NFT-BASED LIFE CYCLE MANAGEMENT</a:t>
            </a:r>
          </a:p>
          <a:p>
            <a:pPr algn="l">
              <a:defRPr sz="2200">
                <a:solidFill>
                  <a:srgbClr val="F0F8F5"/>
                </a:solidFill>
                <a:latin typeface="Segoe UI"/>
              </a:defRPr>
            </a:pPr>
            <a:r>
              <a:t>Bridging Physical Manufacturing with Immutable Web3 Digital Twins</a:t>
            </a:r>
          </a:p>
          <a:p>
            <a:br/>
            <a:pPr algn="l">
              <a:defRPr sz="1600" i="1">
                <a:solidFill>
                  <a:srgbClr val="96AAA5"/>
                </a:solidFill>
                <a:latin typeface="Segoe UI"/>
              </a:defRPr>
            </a:pPr>
            <a:r>
              <a:t>Layer 0 Digital Product Passport for Enterprise IIoT Ecosystems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0F8F5"/>
                </a:solidFill>
                <a:latin typeface="Segoe UI"/>
              </a:defRPr>
            </a:pPr>
            <a:r>
              <a:t>UFG Student Team: Manikant Kumar, Abhijeet Ranjan, Dhruv Maji</a:t>
            </a:r>
          </a:p>
          <a:p>
            <a:pPr>
              <a:defRPr sz="1200">
                <a:solidFill>
                  <a:srgbClr val="96AAA5"/>
                </a:solidFill>
                <a:latin typeface="Segoe UI"/>
              </a:defRPr>
            </a:pPr>
            <a:r>
              <a:t>Blockchain &amp; IoT Engineering Group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4AF"/>
                </a:solidFill>
                <a:latin typeface="Segoe UI"/>
              </a:defRPr>
            </a:pPr>
            <a:r>
              <a:t>The Core Problem It Solves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</a:pPr>
            <a:r>
              <a:rPr b="1" sz="2000">
                <a:solidFill>
                  <a:srgbClr val="00D4AF"/>
                </a:solidFill>
                <a:latin typeface="Segoe UI"/>
              </a:rPr>
              <a:t>• Fragmented Data Silos:</a:t>
            </a:r>
            <a:r>
              <a:rPr sz="1800">
                <a:solidFill>
                  <a:srgbClr val="F0F8F5"/>
                </a:solidFill>
                <a:latin typeface="Segoe UI"/>
              </a:rPr>
              <a:t> Traditional manufacturing logs are scattered across isolated databases, Excel sheets, and disconnected MES/ERP systems, preventing end-to-end visibility.</a:t>
            </a:r>
          </a:p>
          <a:p>
            <a:pPr>
              <a:spcAft>
                <a:spcPts val="2000"/>
              </a:spcAft>
            </a:pPr>
            <a:r>
              <a:rPr b="1" sz="2000">
                <a:solidFill>
                  <a:srgbClr val="00D4AF"/>
                </a:solidFill>
                <a:latin typeface="Segoe UI"/>
              </a:rPr>
              <a:t>• Lack of Trust &amp; Auditability:</a:t>
            </a:r>
            <a:r>
              <a:rPr sz="1800">
                <a:solidFill>
                  <a:srgbClr val="F0F8F5"/>
                </a:solidFill>
                <a:latin typeface="Segoe UI"/>
              </a:rPr>
              <a:t> Quality records, maintenance history, and emissions reports are stored in mutable databases prone to unauthorized editing, loss, or intentional tampering.</a:t>
            </a:r>
          </a:p>
          <a:p>
            <a:pPr>
              <a:spcAft>
                <a:spcPts val="2000"/>
              </a:spcAft>
            </a:pPr>
            <a:r>
              <a:rPr b="1" sz="2000">
                <a:solidFill>
                  <a:srgbClr val="00D4AF"/>
                </a:solidFill>
                <a:latin typeface="Segoe UI"/>
              </a:rPr>
              <a:t>• Compliance &amp; Tracking Gaps:</a:t>
            </a:r>
            <a:r>
              <a:rPr sz="1800">
                <a:solidFill>
                  <a:srgbClr val="F0F8F5"/>
                </a:solidFill>
                <a:latin typeface="Segoe UI"/>
              </a:rPr>
              <a:t> Regulators struggle to verify physical component provenance, compliance certifications, and environmental impact (ESG/Carbon metrics) across multi-tiered supply chains.</a:t>
            </a:r>
          </a:p>
          <a:p>
            <a:pPr>
              <a:spcAft>
                <a:spcPts val="2000"/>
              </a:spcAft>
            </a:pPr>
            <a:r>
              <a:rPr b="1" sz="2000">
                <a:solidFill>
                  <a:srgbClr val="00D4AF"/>
                </a:solidFill>
                <a:latin typeface="Segoe UI"/>
              </a:rPr>
              <a:t>• Circular Economy Fraud:</a:t>
            </a:r>
            <a:r>
              <a:rPr sz="1800">
                <a:solidFill>
                  <a:srgbClr val="F0F8F5"/>
                </a:solidFill>
                <a:latin typeface="Segoe UI"/>
              </a:rPr>
              <a:t> No secure mechanism exists to prevent retired, fatigued, or uncertified parts from fraudulently re-entering the active assembly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4AF"/>
                </a:solidFill>
                <a:latin typeface="Segoe UI"/>
              </a:defRPr>
            </a:pPr>
            <a:r>
              <a:t>The Web3 Solution: Digital Product Passport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</a:pPr>
            <a:r>
              <a:rPr b="1" sz="2000">
                <a:solidFill>
                  <a:srgbClr val="00D4AF"/>
                </a:solidFill>
                <a:latin typeface="Segoe UI"/>
              </a:rPr>
              <a:t>• Layer 0 Foundations:</a:t>
            </a:r>
            <a:r>
              <a:rPr sz="1800">
                <a:solidFill>
                  <a:srgbClr val="F0F8F5"/>
                </a:solidFill>
                <a:latin typeface="Segoe UI"/>
              </a:rPr>
              <a:t> Establishes the immutable, decentralized 'source of truth' layer that anchors all higher-level autonomous controls, AI prognosis, and metaverse digital twins.</a:t>
            </a:r>
          </a:p>
          <a:p>
            <a:pPr>
              <a:spcAft>
                <a:spcPts val="2000"/>
              </a:spcAft>
            </a:pPr>
            <a:r>
              <a:rPr b="1" sz="2000">
                <a:solidFill>
                  <a:srgbClr val="00D4AF"/>
                </a:solidFill>
                <a:latin typeface="Segoe UI"/>
              </a:rPr>
              <a:t>• On-Chain NFT Identity (ERC-721):</a:t>
            </a:r>
            <a:r>
              <a:rPr sz="1800">
                <a:solidFill>
                  <a:srgbClr val="F0F8F5"/>
                </a:solidFill>
                <a:latin typeface="Segoe UI"/>
              </a:rPr>
              <a:t> Mints a unique blockchain identity token for every component, tracking structural lineage and operational history permanently.</a:t>
            </a:r>
          </a:p>
          <a:p>
            <a:pPr>
              <a:spcAft>
                <a:spcPts val="2000"/>
              </a:spcAft>
            </a:pPr>
            <a:r>
              <a:rPr b="1" sz="2000">
                <a:solidFill>
                  <a:srgbClr val="00D4AF"/>
                </a:solidFill>
                <a:latin typeface="Segoe UI"/>
              </a:rPr>
              <a:t>• Decentralized Metadata Storage:</a:t>
            </a:r>
            <a:r>
              <a:rPr sz="1800">
                <a:solidFill>
                  <a:srgbClr val="F0F8F5"/>
                </a:solidFill>
                <a:latin typeface="Segoe UI"/>
              </a:rPr>
              <a:t> Pins heavy telemetry data (sensor logs, certificates, chemical compositions) to IPFS, storing the immutable IPFS Content Identifiers (CIDs) on-chain.</a:t>
            </a:r>
          </a:p>
          <a:p>
            <a:pPr>
              <a:spcAft>
                <a:spcPts val="2000"/>
              </a:spcAft>
            </a:pPr>
            <a:r>
              <a:rPr b="1" sz="2000">
                <a:solidFill>
                  <a:srgbClr val="00D4AF"/>
                </a:solidFill>
                <a:latin typeface="Segoe UI"/>
              </a:rPr>
              <a:t>• Role-Based Gated Permissions:</a:t>
            </a:r>
            <a:r>
              <a:rPr sz="1800">
                <a:solidFill>
                  <a:srgbClr val="F0F8F5"/>
                </a:solidFill>
                <a:latin typeface="Segoe UI"/>
              </a:rPr>
              <a:t> Restricts update capabilities to verified keys assigned to specific roles (Foundry, OEM, MRO, Carbon Reporter, Quality Inspector) to ensure data authenticity.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4AF"/>
                </a:solidFill>
                <a:latin typeface="Segoe UI"/>
              </a:defRPr>
            </a:pPr>
            <a:r>
              <a:t>8-Layer Manufacturing Stack Integration</a:t>
            </a:r>
          </a:p>
        </p:txBody>
      </p:sp>
      <p:pic>
        <p:nvPicPr>
          <p:cNvPr id="3" name="Picture 2" descr="iota_architecture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b="1" sz="2200">
                <a:solidFill>
                  <a:srgbClr val="00D4AF"/>
                </a:solidFill>
                <a:latin typeface="Segoe UI"/>
              </a:defRPr>
            </a:pPr>
            <a:r>
              <a:t>End-to-End Traceability Flow: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00D4AF"/>
                </a:solidFill>
                <a:latin typeface="Segoe UI"/>
              </a:rPr>
              <a:t>• Physical Components &amp; IIoT Sensors:</a:t>
            </a:r>
            <a:r>
              <a:rPr sz="1400">
                <a:solidFill>
                  <a:srgbClr val="F0F8F5"/>
                </a:solidFill>
                <a:latin typeface="Segoe UI"/>
              </a:rPr>
              <a:t> Real-time streaming data from CNC machines, temperature probes, and room sensors.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00D4AF"/>
                </a:solidFill>
                <a:latin typeface="Segoe UI"/>
              </a:rPr>
              <a:t>• Edge Data Acquisition Layer:</a:t>
            </a:r>
            <a:r>
              <a:rPr sz="1400">
                <a:solidFill>
                  <a:srgbClr val="F0F8F5"/>
                </a:solidFill>
                <a:latin typeface="Segoe UI"/>
              </a:rPr>
              <a:t> Streams formatted JSON data summaries to IPFS and calculates cryptographic content hashes.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00D4AF"/>
                </a:solidFill>
                <a:latin typeface="Segoe UI"/>
              </a:rPr>
              <a:t>• IOTA EVM Blockchain Layer:</a:t>
            </a:r>
            <a:r>
              <a:rPr sz="1400">
                <a:solidFill>
                  <a:srgbClr val="F0F8F5"/>
                </a:solidFill>
                <a:latin typeface="Segoe UI"/>
              </a:rPr>
              <a:t> Anchors the IPFS CIDs inside immutable transaction records via smart contracts.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00D4AF"/>
                </a:solidFill>
                <a:latin typeface="Segoe UI"/>
              </a:rPr>
              <a:t>• Digital Twin Validation Loop:</a:t>
            </a:r>
            <a:r>
              <a:rPr sz="1400">
                <a:solidFill>
                  <a:srgbClr val="F0F8F5"/>
                </a:solidFill>
                <a:latin typeface="Segoe UI"/>
              </a:rPr>
              <a:t> Synchronizes the physical asset's state with the Metaverse/Ontology layers prior to triggering autonomous closed-loop actions.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4AF"/>
                </a:solidFill>
                <a:latin typeface="Segoe UI"/>
              </a:defRPr>
            </a:pPr>
            <a:r>
              <a:t>Decoupled Multi-NFT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i="1">
                <a:solidFill>
                  <a:srgbClr val="F0F8F5"/>
                </a:solidFill>
                <a:latin typeface="Segoe UI"/>
              </a:defRPr>
            </a:pPr>
            <a:r>
              <a:t>To resolve EIP-170 code size limitations and separate concerns, the architecture is decoupled into 7 distinct NFT contracts orchestrated by a coordinator portal: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0D4AF"/>
                </a:solidFill>
                <a:latin typeface="Segoe UI"/>
              </a:rPr>
              <a:t>  ✔ EquipmentNFT: </a:t>
            </a:r>
            <a:r>
              <a:rPr sz="1400">
                <a:solidFill>
                  <a:srgbClr val="F0F8F5"/>
                </a:solidFill>
                <a:latin typeface="Segoe UI"/>
              </a:rPr>
              <a:t> Represents the physical fabrication machinery and production equipment assets.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0D4AF"/>
                </a:solidFill>
                <a:latin typeface="Segoe UI"/>
              </a:rPr>
              <a:t>  ✔ ManpowerNFT: </a:t>
            </a:r>
            <a:r>
              <a:rPr sz="1400">
                <a:solidFill>
                  <a:srgbClr val="F0F8F5"/>
                </a:solidFill>
                <a:latin typeface="Segoe UI"/>
              </a:rPr>
              <a:t> Credentials worker identities, roles, and mandatory safety/operating skill certifications.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0D4AF"/>
                </a:solidFill>
                <a:latin typeface="Segoe UI"/>
              </a:rPr>
              <a:t>  ✔ ProcessNFT: </a:t>
            </a:r>
            <a:r>
              <a:rPr sz="1400">
                <a:solidFill>
                  <a:srgbClr val="F0F8F5"/>
                </a:solidFill>
                <a:latin typeface="Segoe UI"/>
              </a:rPr>
              <a:t> Records individual manufacturing steps (minting, machining, assembly) with equipment/operator links.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0D4AF"/>
                </a:solidFill>
                <a:latin typeface="Segoe UI"/>
              </a:rPr>
              <a:t>  ✔ ProductNFT: </a:t>
            </a:r>
            <a:r>
              <a:rPr sz="1400">
                <a:solidFill>
                  <a:srgbClr val="F0F8F5"/>
                </a:solidFill>
                <a:latin typeface="Segoe UI"/>
              </a:rPr>
              <a:t> Represents the final manufactured item, mapping parent-child structural Bills of Materials.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0D4AF"/>
                </a:solidFill>
                <a:latin typeface="Segoe UI"/>
              </a:rPr>
              <a:t>  ✔ QualityNFT: </a:t>
            </a:r>
            <a:r>
              <a:rPr sz="1400">
                <a:solidFill>
                  <a:srgbClr val="F0F8F5"/>
                </a:solidFill>
                <a:latin typeface="Segoe UI"/>
              </a:rPr>
              <a:t> Appends inspection reports, deviation flags, and regulatory compliance certificates.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0D4AF"/>
                </a:solidFill>
                <a:latin typeface="Segoe UI"/>
              </a:rPr>
              <a:t>  ✔ MaintenanceNFT: </a:t>
            </a:r>
            <a:r>
              <a:rPr sz="1400">
                <a:solidFill>
                  <a:srgbClr val="F0F8F5"/>
                </a:solidFill>
                <a:latin typeface="Segoe UI"/>
              </a:rPr>
              <a:t> Logs MRO (Maintenance, Repair, Overhaul) repair records and technician signatures.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0D4AF"/>
                </a:solidFill>
                <a:latin typeface="Segoe UI"/>
              </a:rPr>
              <a:t>  ✔ BusinessNFT: </a:t>
            </a:r>
            <a:r>
              <a:rPr sz="1400">
                <a:solidFill>
                  <a:srgbClr val="F0F8F5"/>
                </a:solidFill>
                <a:latin typeface="Segoe UI"/>
              </a:rPr>
              <a:t> Manages enterprise custody changes, sales, commercial contracts, and ownership transfers.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4AF"/>
                </a:solidFill>
                <a:latin typeface="Segoe UI"/>
              </a:defRPr>
            </a:pPr>
            <a:r>
              <a:t>7-Stage Lifecycle State Machine</a:t>
            </a:r>
          </a:p>
        </p:txBody>
      </p:sp>
      <p:pic>
        <p:nvPicPr>
          <p:cNvPr id="3" name="Picture 2" descr="nft_lifecycl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b="1" sz="2200">
                <a:solidFill>
                  <a:srgbClr val="00D4AF"/>
                </a:solidFill>
                <a:latin typeface="Segoe UI"/>
              </a:defRPr>
            </a:pPr>
            <a:r>
              <a:t>Rigorous State Transition Rules:</a:t>
            </a:r>
          </a:p>
          <a:p>
            <a:pPr>
              <a:spcAft>
                <a:spcPts val="1500"/>
              </a:spcAft>
            </a:pPr>
            <a:r>
              <a:rPr b="1" sz="1600">
                <a:solidFill>
                  <a:srgbClr val="00D4AF"/>
                </a:solidFill>
                <a:latin typeface="Segoe UI"/>
              </a:rPr>
              <a:t>• Irreversible Sequential Path:</a:t>
            </a:r>
            <a:r>
              <a:rPr sz="1400">
                <a:solidFill>
                  <a:srgbClr val="F0F8F5"/>
                </a:solidFill>
                <a:latin typeface="Segoe UI"/>
              </a:rPr>
              <a:t> Assets advance sequentially: Raw Material → Manufacturing → QA → Supply Chain → In Service → Maintenance → End of Life.</a:t>
            </a:r>
          </a:p>
          <a:p>
            <a:pPr>
              <a:spcAft>
                <a:spcPts val="1500"/>
              </a:spcAft>
            </a:pPr>
            <a:r>
              <a:rPr b="1" sz="1600">
                <a:solidFill>
                  <a:srgbClr val="00D4AF"/>
                </a:solidFill>
                <a:latin typeface="Segoe UI"/>
              </a:rPr>
              <a:t>• Cryptographic Metadata Gating:</a:t>
            </a:r>
            <a:r>
              <a:rPr sz="1400">
                <a:solidFill>
                  <a:srgbClr val="F0F8F5"/>
                </a:solidFill>
                <a:latin typeface="Segoe UI"/>
              </a:rPr>
              <a:t> Update permissions shift dynamically. E.g., only certified MRO keys can push maintenance logs during the In-Service stage.</a:t>
            </a:r>
          </a:p>
          <a:p>
            <a:pPr>
              <a:spcAft>
                <a:spcPts val="1500"/>
              </a:spcAft>
            </a:pPr>
            <a:r>
              <a:rPr b="1" sz="1600">
                <a:solidFill>
                  <a:srgbClr val="00D4AF"/>
                </a:solidFill>
                <a:latin typeface="Segoe UI"/>
              </a:rPr>
              <a:t>• Permanent End-of-Life Freeze:</a:t>
            </a:r>
            <a:r>
              <a:rPr sz="1400">
                <a:solidFill>
                  <a:srgbClr val="F0F8F5"/>
                </a:solidFill>
                <a:latin typeface="Segoe UI"/>
              </a:rPr>
              <a:t> Transitioning to stage 6 (End of Life) permanently freezes the NFT metadata. No further transfers, updates, or modifications are allowed.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4AF"/>
                </a:solidFill>
                <a:latin typeface="Segoe UI"/>
              </a:defRPr>
            </a:pPr>
            <a:r>
              <a:t>Sustainability: Carbon &amp; Emissions Auditing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</a:pPr>
            <a:r>
              <a:rPr b="1" sz="2000">
                <a:solidFill>
                  <a:srgbClr val="00D4AF"/>
                </a:solidFill>
                <a:latin typeface="Segoe UI"/>
              </a:rPr>
              <a:t>• Lifecycle Carbon Ledger:</a:t>
            </a:r>
            <a:r>
              <a:rPr sz="1800">
                <a:solidFill>
                  <a:srgbClr val="F0F8F5"/>
                </a:solidFill>
                <a:latin typeface="Segoe UI"/>
              </a:rPr>
              <a:t> Supports recording CarbonData records for each asset stage, registering environmental impact metrics directly on the IOTA ledger.</a:t>
            </a:r>
          </a:p>
          <a:p>
            <a:pPr>
              <a:spcAft>
                <a:spcPts val="2000"/>
              </a:spcAft>
            </a:pPr>
            <a:r>
              <a:rPr b="1" sz="2000">
                <a:solidFill>
                  <a:srgbClr val="00D4AF"/>
                </a:solidFill>
                <a:latin typeface="Segoe UI"/>
              </a:rPr>
              <a:t>• Key Tracked Emissions Parameters:</a:t>
            </a:r>
            <a:r>
              <a:rPr sz="1800">
                <a:solidFill>
                  <a:srgbClr val="F0F8F5"/>
                </a:solidFill>
                <a:latin typeface="Segoe UI"/>
              </a:rPr>
              <a:t> Logs energy usage (kWh), carbon dioxide emissions (kg CO2 weight), carbon score (1-100 rating), and notarized metadata hash links.</a:t>
            </a:r>
          </a:p>
          <a:p>
            <a:pPr>
              <a:spcAft>
                <a:spcPts val="2000"/>
              </a:spcAft>
            </a:pPr>
            <a:r>
              <a:rPr b="1" sz="2000">
                <a:solidFill>
                  <a:srgbClr val="00D4AF"/>
                </a:solidFill>
                <a:latin typeface="Segoe UI"/>
              </a:rPr>
              <a:t>• Supply Chain Carbon Aggregation:</a:t>
            </a:r>
            <a:r>
              <a:rPr sz="1800">
                <a:solidFill>
                  <a:srgbClr val="F0F8F5"/>
                </a:solidFill>
                <a:latin typeface="Segoe UI"/>
              </a:rPr>
              <a:t> Standardized JSON schema enables supply chain platforms to recursively sum emissions profiles from child components to parent assemblies.</a:t>
            </a:r>
          </a:p>
          <a:p>
            <a:pPr>
              <a:spcAft>
                <a:spcPts val="2000"/>
              </a:spcAft>
            </a:pPr>
            <a:r>
              <a:rPr b="1" sz="2000">
                <a:solidFill>
                  <a:srgbClr val="00D4AF"/>
                </a:solidFill>
                <a:latin typeface="Segoe UI"/>
              </a:rPr>
              <a:t>• Audit-Ready ESG Compliance:</a:t>
            </a:r>
            <a:r>
              <a:rPr sz="1800">
                <a:solidFill>
                  <a:srgbClr val="F0F8F5"/>
                </a:solidFill>
                <a:latin typeface="Segoe UI"/>
              </a:rPr>
              <a:t> Provides an unalterable audit trail for global carbon-border taxes (CBAM), scope-3 emissions reporting, and green certifications.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4AF"/>
                </a:solidFill>
                <a:latin typeface="Segoe UI"/>
              </a:defRPr>
            </a:pPr>
            <a:r>
              <a:t>Unified Portal Frontend Dashboard</a:t>
            </a:r>
          </a:p>
        </p:txBody>
      </p:sp>
      <p:pic>
        <p:nvPicPr>
          <p:cNvPr id="3" name="Picture 2" descr="portal_ui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b="1" sz="2200">
                <a:solidFill>
                  <a:srgbClr val="00D4AF"/>
                </a:solidFill>
                <a:latin typeface="Segoe UI"/>
              </a:defRPr>
            </a:pPr>
            <a:r>
              <a:t>Key Interactive Portal Features:</a:t>
            </a:r>
          </a:p>
          <a:p>
            <a:pPr>
              <a:spcAft>
                <a:spcPts val="1500"/>
              </a:spcAft>
            </a:pPr>
            <a:r>
              <a:rPr b="1" sz="1600">
                <a:solidFill>
                  <a:srgbClr val="00D4AF"/>
                </a:solidFill>
                <a:latin typeface="Segoe UI"/>
              </a:rPr>
              <a:t>• Dynamic System Switcher:</a:t>
            </a:r>
            <a:r>
              <a:rPr sz="1400">
                <a:solidFill>
                  <a:srgbClr val="F0F8F5"/>
                </a:solidFill>
                <a:latin typeface="Segoe UI"/>
              </a:rPr>
              <a:t> Instantly toggles the layout, tabs, and form logic between the Manufacturing DPP and Heat Batch NFT subsystems.</a:t>
            </a:r>
          </a:p>
          <a:p>
            <a:pPr>
              <a:spcAft>
                <a:spcPts val="1500"/>
              </a:spcAft>
            </a:pPr>
            <a:r>
              <a:rPr b="1" sz="1600">
                <a:solidFill>
                  <a:srgbClr val="00D4AF"/>
                </a:solidFill>
                <a:latin typeface="Segoe UI"/>
              </a:rPr>
              <a:t>• Real-time History lookup:</a:t>
            </a:r>
            <a:r>
              <a:rPr sz="1400">
                <a:solidFill>
                  <a:srgbClr val="F0F8F5"/>
                </a:solidFill>
                <a:latin typeface="Segoe UI"/>
              </a:rPr>
              <a:t> Resolves full NFT details, stage badges, carbon score, parent-child links, and interactive lifecycle timeline dots.</a:t>
            </a:r>
          </a:p>
          <a:p>
            <a:pPr>
              <a:spcAft>
                <a:spcPts val="1500"/>
              </a:spcAft>
            </a:pPr>
            <a:r>
              <a:rPr b="1" sz="1600">
                <a:solidFill>
                  <a:srgbClr val="00D4AF"/>
                </a:solidFill>
                <a:latin typeface="Segoe UI"/>
              </a:rPr>
              <a:t>• MetaMask Wallet Integration:</a:t>
            </a:r>
            <a:r>
              <a:rPr sz="1400">
                <a:solidFill>
                  <a:srgbClr val="F0F8F5"/>
                </a:solidFill>
                <a:latin typeface="Segoe UI"/>
              </a:rPr>
              <a:t> Automatically detects networks, handles role loading badges, and handles write transactions seamlessly on the Sepolia network.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4AF"/>
                </a:solidFill>
                <a:latin typeface="Segoe UI"/>
              </a:defRPr>
            </a:pPr>
            <a:r>
              <a:t>Roadmap: The Future of Semantic IIoT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</a:pPr>
            <a:r>
              <a:rPr b="1" sz="2000">
                <a:solidFill>
                  <a:srgbClr val="00D4AF"/>
                </a:solidFill>
                <a:latin typeface="Segoe UI"/>
              </a:rPr>
              <a:t>• AI-Driven Prognosis:</a:t>
            </a:r>
            <a:r>
              <a:rPr sz="1800">
                <a:solidFill>
                  <a:srgbClr val="F0F8F5"/>
                </a:solidFill>
                <a:latin typeface="Segoe UI"/>
              </a:rPr>
              <a:t> Feed real-time telemetry from Maintenance NFTs to AI models for automatic predictive maintenance alerts (gated via smart contracts).</a:t>
            </a:r>
          </a:p>
          <a:p>
            <a:pPr>
              <a:spcAft>
                <a:spcPts val="2000"/>
              </a:spcAft>
            </a:pPr>
            <a:r>
              <a:rPr b="1" sz="2000">
                <a:solidFill>
                  <a:srgbClr val="00D4AF"/>
                </a:solidFill>
                <a:latin typeface="Segoe UI"/>
              </a:rPr>
              <a:t>• IOTA Oracle Integration:</a:t>
            </a:r>
            <a:r>
              <a:rPr sz="1800">
                <a:solidFill>
                  <a:srgbClr val="F0F8F5"/>
                </a:solidFill>
                <a:latin typeface="Segoe UI"/>
              </a:rPr>
              <a:t> Remove human operators from state-updates by using hardware-anchored secure enclaves and IoT data oracles to push logs directly to the chain.</a:t>
            </a:r>
          </a:p>
          <a:p>
            <a:pPr>
              <a:spcAft>
                <a:spcPts val="2000"/>
              </a:spcAft>
            </a:pPr>
            <a:r>
              <a:rPr b="1" sz="2000">
                <a:solidFill>
                  <a:srgbClr val="00D4AF"/>
                </a:solidFill>
                <a:latin typeface="Segoe UI"/>
              </a:rPr>
              <a:t>• Decentralized Worker IDs (DIDs):</a:t>
            </a:r>
            <a:r>
              <a:rPr sz="1800">
                <a:solidFill>
                  <a:srgbClr val="F0F8F5"/>
                </a:solidFill>
                <a:latin typeface="Segoe UI"/>
              </a:rPr>
              <a:t> Secure employee signatures using W3C DID standards, mapping specific operating skills and certifications onto the Manpower NFT.</a:t>
            </a:r>
          </a:p>
          <a:p>
            <a:pPr>
              <a:spcAft>
                <a:spcPts val="2000"/>
              </a:spcAft>
            </a:pPr>
            <a:r>
              <a:rPr b="1" sz="2000">
                <a:solidFill>
                  <a:srgbClr val="00D4AF"/>
                </a:solidFill>
                <a:latin typeface="Segoe UI"/>
              </a:rPr>
              <a:t>• Cross-Chain Interoperability:</a:t>
            </a:r>
            <a:r>
              <a:rPr sz="1800">
                <a:solidFill>
                  <a:srgbClr val="F0F8F5"/>
                </a:solidFill>
                <a:latin typeface="Segoe UI"/>
              </a:rPr>
              <a:t> Build bridges to link the IOTA EVM digital twins to corporate supply chain platforms on mainnet Ethereum, Arbitrum, or private Hyperledger networks.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